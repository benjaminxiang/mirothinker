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8B82"/>
                </a:solidFill>
                <a:latin typeface="Noto Sans CJK SC"/>
              </a:rPr>
              <a:t>SHENZHEN SCI-TECH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21207"/>
            <a:ext cx="10469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D2C41"/>
                </a:solidFill>
                <a:latin typeface="Noto Sans CJK SC"/>
              </a:rPr>
              <a:t>从一句话问题，到可追溯的科创答案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0">
                <a:solidFill>
                  <a:srgbClr val="657782"/>
                </a:solidFill>
                <a:latin typeface="Noto Sans CJK SC"/>
              </a:rPr>
              <a:t>面向科创生态的对话式检索入口：用户只需提问，系统负责理解、路由、检索与组织答案。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57782"/>
                </a:solidFill>
                <a:latin typeface="Noto Sans CJK SC"/>
              </a:rPr>
              <a:t>01 / 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444752"/>
            <a:ext cx="11119104" cy="0"/>
          </a:xfrm>
          <a:prstGeom prst="line">
            <a:avLst/>
          </a:prstGeom>
          <a:ln w="11430">
            <a:solidFill>
              <a:srgbClr val="DA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64208"/>
            <a:ext cx="6903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1">
                <a:solidFill>
                  <a:srgbClr val="0D2C41"/>
                </a:solidFill>
                <a:latin typeface="Noto Sans CJK SC"/>
              </a:rPr>
              <a:t>客户看到的是答案，系统完成的是一条可解释的检索链路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6766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657782"/>
                </a:solidFill>
                <a:latin typeface="Noto Sans CJK SC"/>
              </a:rPr>
              <a:t>单域查询、跨域聚合、多轮追问，共享同一套证据与身份约束。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13432"/>
            <a:ext cx="1170432" cy="987552"/>
          </a:xfrm>
          <a:prstGeom prst="roundRect">
            <a:avLst/>
          </a:prstGeom>
          <a:solidFill>
            <a:srgbClr val="E7F5F2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2441448"/>
            <a:ext cx="256032" cy="25603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46020"/>
            <a:ext cx="25603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41448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D2C41"/>
                </a:solidFill>
                <a:latin typeface="Noto Sans CJK SC"/>
              </a:rPr>
              <a:t>问题理解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07208"/>
            <a:ext cx="950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57782"/>
                </a:solidFill>
                <a:latin typeface="Noto Sans CJK SC"/>
              </a:rPr>
              <a:t>识别对象、条件与时间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46504" y="2807208"/>
            <a:ext cx="155448" cy="0"/>
          </a:xfrm>
          <a:prstGeom prst="line">
            <a:avLst/>
          </a:prstGeom>
          <a:ln w="15240">
            <a:solidFill>
              <a:srgbClr val="16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38528" y="2313432"/>
            <a:ext cx="117043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48256" y="2441448"/>
            <a:ext cx="256032" cy="25603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8256" y="2446020"/>
            <a:ext cx="25603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441448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D2C41"/>
                </a:solidFill>
                <a:latin typeface="Noto Sans CJK SC"/>
              </a:rPr>
              <a:t>意图路由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2807208"/>
            <a:ext cx="950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57782"/>
                </a:solidFill>
                <a:latin typeface="Noto Sans CJK SC"/>
              </a:rPr>
              <a:t>决定查哪个域 / 是否跨域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6392" y="2807208"/>
            <a:ext cx="155448" cy="0"/>
          </a:xfrm>
          <a:prstGeom prst="line">
            <a:avLst/>
          </a:prstGeom>
          <a:ln w="15240">
            <a:solidFill>
              <a:srgbClr val="16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28416" y="2313432"/>
            <a:ext cx="117043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38144" y="2441448"/>
            <a:ext cx="256032" cy="256032"/>
          </a:xfrm>
          <a:prstGeom prst="ellipse">
            <a:avLst/>
          </a:prstGeom>
          <a:solidFill>
            <a:srgbClr val="BE7B1D"/>
          </a:solidFill>
          <a:ln w="10160">
            <a:solidFill>
              <a:srgbClr val="BE7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2446020"/>
            <a:ext cx="25603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441448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D2C41"/>
                </a:solidFill>
                <a:latin typeface="Noto Sans CJK SC"/>
              </a:rPr>
              <a:t>检索执行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2807208"/>
            <a:ext cx="950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57782"/>
                </a:solidFill>
                <a:latin typeface="Noto Sans CJK SC"/>
              </a:rPr>
              <a:t>语义召回 + 结构化筛选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26280" y="2807208"/>
            <a:ext cx="155448" cy="0"/>
          </a:xfrm>
          <a:prstGeom prst="line">
            <a:avLst/>
          </a:prstGeom>
          <a:ln w="15240">
            <a:solidFill>
              <a:srgbClr val="16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718304" y="2313432"/>
            <a:ext cx="117043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28032" y="2441448"/>
            <a:ext cx="256032" cy="25603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446020"/>
            <a:ext cx="25603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2441448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D2C41"/>
                </a:solidFill>
                <a:latin typeface="Noto Sans CJK SC"/>
              </a:rPr>
              <a:t>融合排序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807208"/>
            <a:ext cx="950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57782"/>
                </a:solidFill>
                <a:latin typeface="Noto Sans CJK SC"/>
              </a:rPr>
              <a:t>多源召回、融合、rerank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16168" y="2807208"/>
            <a:ext cx="155448" cy="0"/>
          </a:xfrm>
          <a:prstGeom prst="line">
            <a:avLst/>
          </a:prstGeom>
          <a:ln w="15240">
            <a:solidFill>
              <a:srgbClr val="16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08192" y="2313432"/>
            <a:ext cx="1170432" cy="987552"/>
          </a:xfrm>
          <a:prstGeom prst="roundRect">
            <a:avLst/>
          </a:prstGeom>
          <a:solidFill>
            <a:srgbClr val="E7F5F2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17920" y="2441448"/>
            <a:ext cx="256032" cy="25603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446020"/>
            <a:ext cx="25603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2441448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D2C41"/>
                </a:solidFill>
                <a:latin typeface="Noto Sans CJK SC"/>
              </a:rPr>
              <a:t>答案组织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07208"/>
            <a:ext cx="950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9" b="0">
                <a:solidFill>
                  <a:srgbClr val="657782"/>
                </a:solidFill>
                <a:latin typeface="Noto Sans CJK SC"/>
              </a:rPr>
              <a:t>结构化回答 +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30168"/>
            <a:ext cx="13258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657782"/>
                </a:solidFill>
                <a:latin typeface="Noto Sans CJK SC"/>
              </a:rPr>
              <a:t>四类科创数据域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4519" y="3566160"/>
            <a:ext cx="1051560" cy="329184"/>
          </a:xfrm>
          <a:prstGeom prst="roundRect">
            <a:avLst/>
          </a:prstGeom>
          <a:solidFill>
            <a:srgbClr val="E7F5F2"/>
          </a:solidFill>
          <a:ln w="10160">
            <a:solidFill>
              <a:srgbClr val="E7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3575303"/>
            <a:ext cx="10515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168B82"/>
                </a:solidFill>
                <a:latin typeface="Noto Sans CJK SC"/>
              </a:rPr>
              <a:t>教授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54096" y="3566160"/>
            <a:ext cx="1051560" cy="329184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ED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54096" y="3575303"/>
            <a:ext cx="10515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143D59"/>
                </a:solidFill>
                <a:latin typeface="Noto Sans CJK SC"/>
              </a:rPr>
              <a:t>企业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3672" y="3566160"/>
            <a:ext cx="1051560" cy="329184"/>
          </a:xfrm>
          <a:prstGeom prst="roundRect">
            <a:avLst/>
          </a:prstGeom>
          <a:solidFill>
            <a:srgbClr val="FFF4DF"/>
          </a:solidFill>
          <a:ln w="10160"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33672" y="3575303"/>
            <a:ext cx="10515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BE7B1D"/>
                </a:solidFill>
                <a:latin typeface="Noto Sans CJK SC"/>
              </a:rPr>
              <a:t>论文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13248" y="3566160"/>
            <a:ext cx="1051560" cy="32918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13248" y="3575303"/>
            <a:ext cx="10515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143D59"/>
                </a:solidFill>
                <a:latin typeface="Noto Sans CJK SC"/>
              </a:rPr>
              <a:t>专利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160520"/>
            <a:ext cx="6729984" cy="1325880"/>
          </a:xfrm>
          <a:prstGeom prst="roundRect">
            <a:avLst/>
          </a:prstGeom>
          <a:solidFill>
            <a:srgbClr val="0D2C41"/>
          </a:solidFill>
          <a:ln w="10160">
            <a:solidFill>
              <a:srgbClr val="0D2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3799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B6DCD6"/>
                </a:solidFill>
                <a:latin typeface="Noto Sans CJK SC"/>
              </a:rPr>
              <a:t>三个让客户放心的体验</a:t>
            </a:r>
          </a:p>
        </p:txBody>
      </p:sp>
      <p:sp>
        <p:nvSpPr>
          <p:cNvPr id="49" name="Oval 48"/>
          <p:cNvSpPr/>
          <p:nvPr/>
        </p:nvSpPr>
        <p:spPr>
          <a:xfrm>
            <a:off x="804672" y="4773168"/>
            <a:ext cx="118872" cy="11887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4690872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自动路由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937760"/>
            <a:ext cx="179222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70" b="0">
                <a:solidFill>
                  <a:srgbClr val="D0DEE4"/>
                </a:solidFill>
                <a:latin typeface="Noto Sans CJK SC"/>
              </a:rPr>
              <a:t>不用记数据表和入口，直接用业务语言提问</a:t>
            </a:r>
          </a:p>
        </p:txBody>
      </p:sp>
      <p:sp>
        <p:nvSpPr>
          <p:cNvPr id="52" name="Oval 51"/>
          <p:cNvSpPr/>
          <p:nvPr/>
        </p:nvSpPr>
        <p:spPr>
          <a:xfrm>
            <a:off x="2944368" y="4773168"/>
            <a:ext cx="118872" cy="11887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45536" y="4690872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可追溯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45536" y="4937760"/>
            <a:ext cx="179222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70" b="0">
                <a:solidFill>
                  <a:srgbClr val="D0DEE4"/>
                </a:solidFill>
                <a:latin typeface="Noto Sans CJK SC"/>
              </a:rPr>
              <a:t>答案保留稳定 ID、来源、时间与证据片段</a:t>
            </a:r>
          </a:p>
        </p:txBody>
      </p:sp>
      <p:sp>
        <p:nvSpPr>
          <p:cNvPr id="55" name="Oval 54"/>
          <p:cNvSpPr/>
          <p:nvPr/>
        </p:nvSpPr>
        <p:spPr>
          <a:xfrm>
            <a:off x="5084064" y="4773168"/>
            <a:ext cx="118872" cy="118872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85231" y="4690872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可继续追问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5231" y="4937760"/>
            <a:ext cx="179222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70" b="0">
                <a:solidFill>
                  <a:srgbClr val="D0DEE4"/>
                </a:solidFill>
                <a:latin typeface="Noto Sans CJK SC"/>
              </a:rPr>
              <a:t>上下文携带实体，支持从教授跳到论文、专利或企业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1664208"/>
            <a:ext cx="3520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1">
                <a:solidFill>
                  <a:srgbClr val="0D2C41"/>
                </a:solidFill>
                <a:latin typeface="Noto Sans CJK SC"/>
              </a:rPr>
              <a:t>真实系统运行界面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79" y="1938528"/>
            <a:ext cx="3429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657782"/>
                </a:solidFill>
                <a:latin typeface="Noto Sans CJK SC"/>
              </a:rPr>
              <a:t>同一套数据底座，同时服务运营与检索。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79" y="2313432"/>
            <a:ext cx="3913632" cy="18653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aselin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2395727"/>
            <a:ext cx="3749040" cy="1517904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7808975" y="2395727"/>
            <a:ext cx="54864" cy="1517904"/>
          </a:xfrm>
          <a:prstGeom prst="rect">
            <a:avLst/>
          </a:prstGeom>
          <a:solidFill>
            <a:srgbClr val="BE7B1D"/>
          </a:solidFill>
          <a:ln w="10160">
            <a:solidFill>
              <a:srgbClr val="BE7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36407" y="3950208"/>
            <a:ext cx="3694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657782"/>
                </a:solidFill>
                <a:latin typeface="Noto Sans CJK SC"/>
              </a:rPr>
              <a:t>运营总览 · 数据质量动态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26679" y="4370832"/>
            <a:ext cx="3913632" cy="18653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aseline-professor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5" y="4453128"/>
            <a:ext cx="3749040" cy="1517904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7808975" y="4453128"/>
            <a:ext cx="54864" cy="1517904"/>
          </a:xfrm>
          <a:prstGeom prst="rect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36407" y="6007608"/>
            <a:ext cx="3694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657782"/>
                </a:solidFill>
                <a:latin typeface="Noto Sans CJK SC"/>
              </a:rPr>
              <a:t>教授数据资产 · 条件筛选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528816"/>
            <a:ext cx="2743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657782"/>
                </a:solidFill>
                <a:latin typeface="Noto Sans CJK SC"/>
              </a:rPr>
              <a:t>深圳科创数据平台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0" y="6492240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68B82"/>
                </a:solidFill>
                <a:latin typeface="Noto Sans CJK SC"/>
              </a:rPr>
              <a:t>把分散的科创数据，变成可检索、可解释、可继续追问的答案。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8B82"/>
                </a:solidFill>
                <a:latin typeface="Noto Sans CJK SC"/>
              </a:rPr>
              <a:t>ENGINEERING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21207"/>
            <a:ext cx="10469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D2C41"/>
                </a:solidFill>
                <a:latin typeface="Noto Sans CJK SC"/>
              </a:rPr>
              <a:t>四域数据底座 + Canonical-v2 服务层，支撑持续演进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0">
                <a:solidFill>
                  <a:srgbClr val="657782"/>
                </a:solidFill>
                <a:latin typeface="Noto Sans CJK SC"/>
              </a:rPr>
              <a:t>物理上各域独立建设，逻辑上统一身份、证据、关系与服务契约，工程能力可以持续复用。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6583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57782"/>
                </a:solidFill>
                <a:latin typeface="Noto Sans CJK SC"/>
              </a:rPr>
              <a:t>02 / 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444752"/>
            <a:ext cx="11119104" cy="0"/>
          </a:xfrm>
          <a:prstGeom prst="line">
            <a:avLst/>
          </a:prstGeom>
          <a:ln w="11430">
            <a:solidFill>
              <a:srgbClr val="DA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6420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20" b="1">
                <a:solidFill>
                  <a:srgbClr val="0D2C41"/>
                </a:solidFill>
                <a:latin typeface="Noto Sans CJK SC"/>
              </a:rPr>
              <a:t>分层架构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7132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>
                <a:solidFill>
                  <a:srgbClr val="657782"/>
                </a:solidFill>
                <a:latin typeface="Noto Sans CJK SC"/>
              </a:rPr>
              <a:t>每一层有清晰边界，替换模型或检索组件不会影响上层业务入口。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04288"/>
            <a:ext cx="7351775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304288"/>
            <a:ext cx="100584" cy="932688"/>
          </a:xfrm>
          <a:prstGeom prst="rect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50592"/>
            <a:ext cx="13167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70" b="1">
                <a:solidFill>
                  <a:srgbClr val="168B82"/>
                </a:solidFill>
                <a:latin typeface="Noto Sans CJK SC"/>
              </a:rPr>
              <a:t>交互与运营层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450592"/>
            <a:ext cx="1351025" cy="64008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552" y="2542032"/>
            <a:ext cx="120472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用户对话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2788920"/>
            <a:ext cx="120472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自然语言入口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9865" y="2450592"/>
            <a:ext cx="1351025" cy="64008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018" y="2542032"/>
            <a:ext cx="120472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运营总览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018" y="2788920"/>
            <a:ext cx="120472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数据质量动态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2331" y="2450592"/>
            <a:ext cx="1351025" cy="64008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5483" y="2542032"/>
            <a:ext cx="120472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导入任务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5483" y="2788920"/>
            <a:ext cx="120472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采集 / 发布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4798" y="2450592"/>
            <a:ext cx="1351025" cy="640080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7950" y="2542032"/>
            <a:ext cx="120472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质量 / 审核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2788920"/>
            <a:ext cx="120472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问题闭环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3511296"/>
            <a:ext cx="7351775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3511296"/>
            <a:ext cx="100584" cy="1170432"/>
          </a:xfrm>
          <a:prstGeom prst="rect">
            <a:avLst/>
          </a:prstGeom>
          <a:solidFill>
            <a:srgbClr val="143D59"/>
          </a:solidFill>
          <a:ln w="10160">
            <a:solidFill>
              <a:srgbClr val="14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657600"/>
            <a:ext cx="13167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70" b="1">
                <a:solidFill>
                  <a:srgbClr val="143D59"/>
                </a:solidFill>
                <a:latin typeface="Noto Sans CJK SC"/>
              </a:rPr>
              <a:t>Canonical-v2 服务层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3657600"/>
            <a:ext cx="1062532" cy="87782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30552" y="3749039"/>
            <a:ext cx="9162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统一身份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3995928"/>
            <a:ext cx="91622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稳定 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1372" y="3657600"/>
            <a:ext cx="1062532" cy="87782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4524" y="3749039"/>
            <a:ext cx="9162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领域投影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4524" y="3995928"/>
            <a:ext cx="91622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四域契约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5345" y="3657600"/>
            <a:ext cx="1062532" cy="87782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8497" y="3749039"/>
            <a:ext cx="9162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关系投影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8497" y="3995928"/>
            <a:ext cx="91622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跨域关联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19318" y="3657600"/>
            <a:ext cx="1062532" cy="87782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92470" y="3749039"/>
            <a:ext cx="9162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证据落地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2470" y="3995928"/>
            <a:ext cx="91622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source +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3291" y="3657600"/>
            <a:ext cx="1062532" cy="877824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46443" y="3749039"/>
            <a:ext cx="9162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流式会话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6443" y="3995928"/>
            <a:ext cx="91622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多轮上下文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4919472"/>
            <a:ext cx="735177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0352" y="4919472"/>
            <a:ext cx="100584" cy="960120"/>
          </a:xfrm>
          <a:prstGeom prst="rect">
            <a:avLst/>
          </a:prstGeom>
          <a:solidFill>
            <a:srgbClr val="BE7B1D"/>
          </a:solidFill>
          <a:ln w="10160">
            <a:solidFill>
              <a:srgbClr val="BE7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5065776"/>
            <a:ext cx="13167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70" b="1">
                <a:solidFill>
                  <a:srgbClr val="BE7B1D"/>
                </a:solidFill>
                <a:latin typeface="Noto Sans CJK SC"/>
              </a:rPr>
              <a:t>数据与检索层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57400" y="5065776"/>
            <a:ext cx="1831847" cy="66751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0552" y="5157216"/>
            <a:ext cx="1685543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PostgreSQL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0552" y="5404104"/>
            <a:ext cx="1685543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事实与关系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80688" y="5065776"/>
            <a:ext cx="1831847" cy="66751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53840" y="5157216"/>
            <a:ext cx="1685543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Milvus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3840" y="5404104"/>
            <a:ext cx="1685543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向量召回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03975" y="5065776"/>
            <a:ext cx="1831847" cy="667512"/>
          </a:xfrm>
          <a:prstGeom prst="roundRect">
            <a:avLst/>
          </a:prstGeom>
          <a:solidFill>
            <a:srgbClr val="F2F6F8"/>
          </a:solidFill>
          <a:ln w="10160"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77128" y="5157216"/>
            <a:ext cx="1685543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632"/>
                </a:solidFill>
                <a:latin typeface="Noto Sans CJK SC"/>
              </a:rPr>
              <a:t>Web 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77128" y="5404104"/>
            <a:ext cx="1685543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57782"/>
                </a:solidFill>
                <a:latin typeface="Noto Sans CJK SC"/>
              </a:rPr>
              <a:t>实时补充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187952" y="3273552"/>
            <a:ext cx="0" cy="210312"/>
          </a:xfrm>
          <a:prstGeom prst="line">
            <a:avLst/>
          </a:prstGeom>
          <a:ln w="17780">
            <a:solidFill>
              <a:srgbClr val="16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187952" y="4690872"/>
            <a:ext cx="0" cy="201168"/>
          </a:xfrm>
          <a:prstGeom prst="line">
            <a:avLst/>
          </a:prstGeom>
          <a:ln w="17780">
            <a:solidFill>
              <a:srgbClr val="BE7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101583" y="1664208"/>
            <a:ext cx="3547872" cy="4215384"/>
          </a:xfrm>
          <a:prstGeom prst="roundRect">
            <a:avLst/>
          </a:prstGeom>
          <a:solidFill>
            <a:srgbClr val="0D2C41"/>
          </a:solidFill>
          <a:ln w="10160">
            <a:solidFill>
              <a:srgbClr val="0D2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7" y="1901952"/>
            <a:ext cx="2286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工程能力证据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9327" y="2194560"/>
            <a:ext cx="2852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BED3DB"/>
                </a:solidFill>
                <a:latin typeface="Noto Sans CJK SC"/>
              </a:rPr>
              <a:t>不是一条 demo 链路，而是一套可运营的服务底座。</a:t>
            </a:r>
          </a:p>
        </p:txBody>
      </p:sp>
      <p:sp>
        <p:nvSpPr>
          <p:cNvPr id="59" name="Oval 58"/>
          <p:cNvSpPr/>
          <p:nvPr/>
        </p:nvSpPr>
        <p:spPr>
          <a:xfrm>
            <a:off x="8339327" y="2715768"/>
            <a:ext cx="246888" cy="246888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9327" y="2720340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05088" y="2697480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>
                <a:solidFill>
                  <a:srgbClr val="FFFFFF"/>
                </a:solidFill>
                <a:latin typeface="Noto Sans CJK SC"/>
              </a:rPr>
              <a:t>统一合同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5088" y="2916936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0" b="0">
                <a:solidFill>
                  <a:srgbClr val="BED3DB"/>
                </a:solidFill>
                <a:latin typeface="Noto Sans CJK SC"/>
              </a:rPr>
              <a:t>四域对外字段一致，底层 schema 可独立演进。</a:t>
            </a:r>
          </a:p>
        </p:txBody>
      </p:sp>
      <p:sp>
        <p:nvSpPr>
          <p:cNvPr id="63" name="Oval 62"/>
          <p:cNvSpPr/>
          <p:nvPr/>
        </p:nvSpPr>
        <p:spPr>
          <a:xfrm>
            <a:off x="8339327" y="3355848"/>
            <a:ext cx="246888" cy="246888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9327" y="3360420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05088" y="3337560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>
                <a:solidFill>
                  <a:srgbClr val="FFFFFF"/>
                </a:solidFill>
                <a:latin typeface="Noto Sans CJK SC"/>
              </a:rPr>
              <a:t>可追溯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05088" y="3557015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0" b="0">
                <a:solidFill>
                  <a:srgbClr val="BED3DB"/>
                </a:solidFill>
                <a:latin typeface="Noto Sans CJK SC"/>
              </a:rPr>
              <a:t>稳定 ID + evidence，回答可以回到来源。</a:t>
            </a:r>
          </a:p>
        </p:txBody>
      </p:sp>
      <p:sp>
        <p:nvSpPr>
          <p:cNvPr id="67" name="Oval 66"/>
          <p:cNvSpPr/>
          <p:nvPr/>
        </p:nvSpPr>
        <p:spPr>
          <a:xfrm>
            <a:off x="8339327" y="3995927"/>
            <a:ext cx="246888" cy="246888"/>
          </a:xfrm>
          <a:prstGeom prst="ellipse">
            <a:avLst/>
          </a:prstGeom>
          <a:solidFill>
            <a:srgbClr val="BE7B1D"/>
          </a:solidFill>
          <a:ln w="10160">
            <a:solidFill>
              <a:srgbClr val="BE7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39327" y="4000500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5088" y="3977639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>
                <a:solidFill>
                  <a:srgbClr val="FFFFFF"/>
                </a:solidFill>
                <a:latin typeface="Noto Sans CJK SC"/>
              </a:rPr>
              <a:t>可迭代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4197096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0" b="0">
                <a:solidFill>
                  <a:srgbClr val="BED3DB"/>
                </a:solidFill>
                <a:latin typeface="Noto Sans CJK SC"/>
              </a:rPr>
              <a:t>质量门与 pipeline issues，支持持续修正。</a:t>
            </a:r>
          </a:p>
        </p:txBody>
      </p:sp>
      <p:sp>
        <p:nvSpPr>
          <p:cNvPr id="71" name="Oval 70"/>
          <p:cNvSpPr/>
          <p:nvPr/>
        </p:nvSpPr>
        <p:spPr>
          <a:xfrm>
            <a:off x="8339327" y="4636007"/>
            <a:ext cx="246888" cy="246888"/>
          </a:xfrm>
          <a:prstGeom prst="ellipse">
            <a:avLst/>
          </a:prstGeom>
          <a:solidFill>
            <a:srgbClr val="168B82"/>
          </a:solidFill>
          <a:ln w="1016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39327" y="4640580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4617720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>
                <a:solidFill>
                  <a:srgbClr val="FFFFFF"/>
                </a:solidFill>
                <a:latin typeface="Noto Sans CJK SC"/>
              </a:rPr>
              <a:t>可关联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05088" y="4837176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0" b="0">
                <a:solidFill>
                  <a:srgbClr val="BED3DB"/>
                </a:solidFill>
                <a:latin typeface="Noto Sans CJK SC"/>
              </a:rPr>
              <a:t>关系投影支撑教授、企业、论文、专利跨域跳转。</a:t>
            </a:r>
          </a:p>
        </p:txBody>
      </p:sp>
      <p:sp>
        <p:nvSpPr>
          <p:cNvPr id="75" name="Oval 74"/>
          <p:cNvSpPr/>
          <p:nvPr/>
        </p:nvSpPr>
        <p:spPr>
          <a:xfrm>
            <a:off x="8339327" y="5276088"/>
            <a:ext cx="246888" cy="246888"/>
          </a:xfrm>
          <a:prstGeom prst="ellipse">
            <a:avLst/>
          </a:prstGeom>
          <a:solidFill>
            <a:srgbClr val="BE7B1D"/>
          </a:solidFill>
          <a:ln w="10160">
            <a:solidFill>
              <a:srgbClr val="BE7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9327" y="5280660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05088" y="5257800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>
                <a:solidFill>
                  <a:srgbClr val="FFFFFF"/>
                </a:solidFill>
                <a:latin typeface="Noto Sans CJK SC"/>
              </a:rPr>
              <a:t>可验证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05088" y="5477256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10" b="0">
                <a:solidFill>
                  <a:srgbClr val="BED3DB"/>
                </a:solidFill>
                <a:latin typeface="Noto Sans CJK SC"/>
              </a:rPr>
              <a:t>回放 / replay 验证服务行为，降低上线风险。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108192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657782"/>
                </a:solidFill>
                <a:latin typeface="Noto Sans CJK SC"/>
              </a:rPr>
              <a:t>运行证据</a:t>
            </a:r>
          </a:p>
        </p:txBody>
      </p:sp>
      <p:pic>
        <p:nvPicPr>
          <p:cNvPr id="80" name="Picture 79" descr="baselin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6016752"/>
            <a:ext cx="1783080" cy="6858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547872" y="614476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BE7B1D"/>
                </a:solidFill>
                <a:latin typeface="Noto Sans CJK SC"/>
              </a:rPr>
              <a:t>可运营</a:t>
            </a:r>
          </a:p>
        </p:txBody>
      </p:sp>
      <p:pic>
        <p:nvPicPr>
          <p:cNvPr id="82" name="Picture 81" descr="baseline-professor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016752"/>
            <a:ext cx="1783080" cy="6858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455664" y="6144768"/>
            <a:ext cx="7772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68B82"/>
                </a:solidFill>
                <a:latin typeface="Noto Sans CJK SC"/>
              </a:rPr>
              <a:t>可追溯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3879" y="6144768"/>
            <a:ext cx="3429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D2C41"/>
                </a:solidFill>
                <a:latin typeface="Noto Sans CJK SC"/>
              </a:rPr>
              <a:t>从数据采集、质量控制到服务发布，形成可回看、可修正、可复用的工程闭环。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28816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657782"/>
                </a:solidFill>
                <a:latin typeface="Noto Sans CJK SC"/>
              </a:rPr>
              <a:t>国际先进技术应用推进中心（深圳） · 客户介绍稿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49640" y="6528816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68B82"/>
                </a:solidFill>
                <a:latin typeface="Aptos"/>
              </a:rPr>
              <a:t>Architecture that stays inspectable.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